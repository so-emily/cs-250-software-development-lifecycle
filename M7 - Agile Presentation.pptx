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62a2a5625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62a2a5625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ebec0eeac_0_1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ebec0eeac_0_1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ebec0eeac_0_1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ebec0eeac_0_1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ebec0eeac_0_1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ebec0eeac_0_1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ebec0eeac_0_1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ebec0eeac_0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ebec0eeac_0_1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ebec0eeac_0_1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gilemodeling.com/essays/changeManagement.htm" TargetMode="External"/><Relationship Id="rId4" Type="http://schemas.openxmlformats.org/officeDocument/2006/relationships/hyperlink" Target="https://agilemodeling.com/essays/changeManagement.htm" TargetMode="External"/><Relationship Id="rId5" Type="http://schemas.openxmlformats.org/officeDocument/2006/relationships/hyperlink" Target="https://devqa.io/agile-testing-mindset-tester-role-agile-team/" TargetMode="External"/><Relationship Id="rId6" Type="http://schemas.openxmlformats.org/officeDocument/2006/relationships/hyperlink" Target="https://devqa.io/agile-testing-mindset-tester-role-agile-team/" TargetMode="External"/><Relationship Id="rId7" Type="http://schemas.openxmlformats.org/officeDocument/2006/relationships/hyperlink" Target="https://scrumguides.org/docs/scrumguide/v2020/2020-Scrum-Guide-US.pdf" TargetMode="External"/><Relationship Id="rId8" Type="http://schemas.openxmlformats.org/officeDocument/2006/relationships/hyperlink" Target="https://scrumguides.org/docs/scrumguide/v2020/2020-Scrum-Guide-U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98350" y="116750"/>
            <a:ext cx="8938500" cy="2717400"/>
          </a:xfrm>
          <a:prstGeom prst="rect">
            <a:avLst/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815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Reflection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o</a:t>
            </a:r>
            <a:r>
              <a:rPr lang="en" sz="3700"/>
              <a:t>n the SNHU Travel Project</a:t>
            </a:r>
            <a:endParaRPr sz="37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977000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Emily Soriano</a:t>
            </a:r>
            <a:endParaRPr>
              <a:solidFill>
                <a:srgbClr val="F3F3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CS 250</a:t>
            </a:r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5812779" y="1489050"/>
            <a:ext cx="2682900" cy="1709400"/>
          </a:xfrm>
          <a:prstGeom prst="wedgeRectCallout">
            <a:avLst>
              <a:gd fmla="val -4388" name="adj1"/>
              <a:gd fmla="val 72667" name="adj2"/>
            </a:avLst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107300" y="107825"/>
            <a:ext cx="8920800" cy="830400"/>
          </a:xfrm>
          <a:prstGeom prst="rect">
            <a:avLst/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67050" y="236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Scrum Team Roles</a:t>
            </a:r>
            <a:endParaRPr sz="2720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045425"/>
            <a:ext cx="5394900" cy="3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Product Owner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Manages priorities and backlog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Represents customer and business needs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Scrum Master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Helps team stay organized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Removes blockers and supports communication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Developers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Build features and complete sprint tasks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Work together to deliver working software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Testers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Asks clarifying questions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Help prevent defects early through continuous testing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a penguin is sitting in front of a laptop (Provided by Tenor)"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7800" y="2757300"/>
            <a:ext cx="2386200" cy="23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5841350" y="1527600"/>
            <a:ext cx="2946300" cy="16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Agile testers focus on preventing defects, not just finding bugs.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132725" y="1011275"/>
            <a:ext cx="4299900" cy="3911400"/>
          </a:xfrm>
          <a:prstGeom prst="rect">
            <a:avLst/>
          </a:prstGeom>
          <a:noFill/>
          <a:ln cap="flat" cmpd="sng" w="38100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107300" y="107825"/>
            <a:ext cx="8920800" cy="830400"/>
          </a:xfrm>
          <a:prstGeom prst="rect">
            <a:avLst/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267050" y="236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Agile Process</a:t>
            </a:r>
            <a:endParaRPr sz="2720"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132725" y="1045425"/>
            <a:ext cx="4299900" cy="38772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Product backlog</a:t>
            </a:r>
            <a:endParaRPr>
              <a:solidFill>
                <a:schemeClr val="dk1"/>
              </a:solidFill>
            </a:endParaRPr>
          </a:p>
          <a:p>
            <a:pPr indent="-310832" lvl="1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</a:rPr>
              <a:t>Prioritized</a:t>
            </a:r>
            <a:r>
              <a:rPr lang="en">
                <a:solidFill>
                  <a:schemeClr val="dk1"/>
                </a:solidFill>
              </a:rPr>
              <a:t> lists of project work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Sprint backlog</a:t>
            </a:r>
            <a:endParaRPr>
              <a:solidFill>
                <a:schemeClr val="dk1"/>
              </a:solidFill>
            </a:endParaRPr>
          </a:p>
          <a:p>
            <a:pPr indent="-310832" lvl="1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</a:rPr>
              <a:t>Tasks selected for the current sprint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User stories</a:t>
            </a:r>
            <a:endParaRPr>
              <a:solidFill>
                <a:schemeClr val="dk1"/>
              </a:solidFill>
            </a:endParaRPr>
          </a:p>
          <a:p>
            <a:pPr indent="-310832" lvl="1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</a:rPr>
              <a:t>Describes what the customer </a:t>
            </a:r>
            <a:r>
              <a:rPr lang="en">
                <a:solidFill>
                  <a:schemeClr val="dk1"/>
                </a:solidFill>
              </a:rPr>
              <a:t>wants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Story points</a:t>
            </a:r>
            <a:endParaRPr>
              <a:solidFill>
                <a:schemeClr val="dk1"/>
              </a:solidFill>
            </a:endParaRPr>
          </a:p>
          <a:p>
            <a:pPr indent="-310832" lvl="1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</a:rPr>
              <a:t>Estimated effort and complexity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572000" y="1045425"/>
            <a:ext cx="4456200" cy="39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Sprint planning</a:t>
            </a:r>
            <a:endParaRPr sz="1800">
              <a:solidFill>
                <a:schemeClr val="dk1"/>
              </a:solidFill>
            </a:endParaRPr>
          </a:p>
          <a:p>
            <a:pPr indent="-317500" lvl="1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Decide what can be completed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Sprint review</a:t>
            </a:r>
            <a:endParaRPr sz="1800">
              <a:solidFill>
                <a:schemeClr val="dk1"/>
              </a:solidFill>
            </a:endParaRPr>
          </a:p>
          <a:p>
            <a:pPr indent="-317500" lvl="1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Show progress and gather feedback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Retrospective</a:t>
            </a:r>
            <a:endParaRPr sz="1800">
              <a:solidFill>
                <a:schemeClr val="dk1"/>
              </a:solidFill>
            </a:endParaRPr>
          </a:p>
          <a:p>
            <a:pPr indent="-317500" lvl="1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Discuss improvements for future sprints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432625" y="1011275"/>
            <a:ext cx="4563000" cy="3911400"/>
          </a:xfrm>
          <a:prstGeom prst="rect">
            <a:avLst/>
          </a:prstGeom>
          <a:noFill/>
          <a:ln cap="flat" cmpd="sng" w="38100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6460286" y="1438025"/>
            <a:ext cx="2534700" cy="2077200"/>
          </a:xfrm>
          <a:prstGeom prst="wedgeRoundRectCallout">
            <a:avLst>
              <a:gd fmla="val -32044" name="adj1"/>
              <a:gd fmla="val 63937" name="adj2"/>
              <a:gd fmla="val 0" name="adj3"/>
            </a:avLst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107300" y="107825"/>
            <a:ext cx="8920800" cy="830400"/>
          </a:xfrm>
          <a:prstGeom prst="rect">
            <a:avLst/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267050" y="236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Communication and Tools</a:t>
            </a:r>
            <a:endParaRPr sz="2720"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107300" y="999175"/>
            <a:ext cx="5946900" cy="40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90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Char char="●"/>
            </a:pPr>
            <a:r>
              <a:rPr lang="en" sz="1425">
                <a:solidFill>
                  <a:schemeClr val="dk1"/>
                </a:solidFill>
              </a:rPr>
              <a:t>Daily standups</a:t>
            </a:r>
            <a:endParaRPr sz="1425">
              <a:solidFill>
                <a:schemeClr val="dk1"/>
              </a:solidFill>
            </a:endParaRPr>
          </a:p>
          <a:p>
            <a:pPr indent="-303213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"/>
              <a:buChar char="○"/>
            </a:pPr>
            <a:r>
              <a:rPr lang="en" sz="1175">
                <a:solidFill>
                  <a:schemeClr val="dk1"/>
                </a:solidFill>
              </a:rPr>
              <a:t>A</a:t>
            </a:r>
            <a:r>
              <a:rPr lang="en" sz="1175">
                <a:solidFill>
                  <a:schemeClr val="dk1"/>
                </a:solidFill>
              </a:rPr>
              <a:t>re short meetings where the team discusses progress, plans, and blockers.</a:t>
            </a:r>
            <a:endParaRPr sz="1175">
              <a:solidFill>
                <a:schemeClr val="dk1"/>
              </a:solidFill>
            </a:endParaRPr>
          </a:p>
          <a:p>
            <a:pPr indent="-3190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Char char="●"/>
            </a:pPr>
            <a:r>
              <a:rPr lang="en" sz="1425">
                <a:solidFill>
                  <a:schemeClr val="dk1"/>
                </a:solidFill>
              </a:rPr>
              <a:t>Kanban board</a:t>
            </a:r>
            <a:endParaRPr sz="1425">
              <a:solidFill>
                <a:schemeClr val="dk1"/>
              </a:solidFill>
            </a:endParaRPr>
          </a:p>
          <a:p>
            <a:pPr indent="-303213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"/>
              <a:buChar char="○"/>
            </a:pPr>
            <a:r>
              <a:rPr lang="en" sz="1175">
                <a:solidFill>
                  <a:schemeClr val="dk1"/>
                </a:solidFill>
              </a:rPr>
              <a:t>Tracks tasks visually - s</a:t>
            </a:r>
            <a:r>
              <a:rPr lang="en" sz="1175">
                <a:solidFill>
                  <a:schemeClr val="dk1"/>
                </a:solidFill>
              </a:rPr>
              <a:t>hows what is To Do, In Progress, and Done</a:t>
            </a:r>
            <a:endParaRPr sz="1175">
              <a:solidFill>
                <a:schemeClr val="dk1"/>
              </a:solidFill>
            </a:endParaRPr>
          </a:p>
          <a:p>
            <a:pPr indent="-3190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Char char="●"/>
            </a:pPr>
            <a:r>
              <a:rPr lang="en" sz="1425">
                <a:solidFill>
                  <a:schemeClr val="dk1"/>
                </a:solidFill>
              </a:rPr>
              <a:t>Information radiator</a:t>
            </a:r>
            <a:endParaRPr sz="1425">
              <a:solidFill>
                <a:schemeClr val="dk1"/>
              </a:solidFill>
            </a:endParaRPr>
          </a:p>
          <a:p>
            <a:pPr indent="-303213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"/>
              <a:buChar char="○"/>
            </a:pPr>
            <a:r>
              <a:rPr lang="en" sz="1175">
                <a:solidFill>
                  <a:schemeClr val="dk1"/>
                </a:solidFill>
              </a:rPr>
              <a:t>Keeps progress visible to everyone</a:t>
            </a:r>
            <a:endParaRPr sz="1175">
              <a:solidFill>
                <a:schemeClr val="dk1"/>
              </a:solidFill>
            </a:endParaRPr>
          </a:p>
          <a:p>
            <a:pPr indent="-303213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"/>
              <a:buChar char="○"/>
            </a:pPr>
            <a:r>
              <a:rPr lang="en" sz="1175">
                <a:solidFill>
                  <a:schemeClr val="dk1"/>
                </a:solidFill>
              </a:rPr>
              <a:t>Helps the team quickly identify delays or blockers</a:t>
            </a:r>
            <a:endParaRPr sz="1175">
              <a:solidFill>
                <a:schemeClr val="dk1"/>
              </a:solidFill>
            </a:endParaRPr>
          </a:p>
          <a:p>
            <a:pPr indent="-3190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Char char="●"/>
            </a:pPr>
            <a:r>
              <a:rPr lang="en" sz="1425">
                <a:solidFill>
                  <a:schemeClr val="dk1"/>
                </a:solidFill>
              </a:rPr>
              <a:t>VersionOne / Jira</a:t>
            </a:r>
            <a:endParaRPr sz="1425">
              <a:solidFill>
                <a:schemeClr val="dk1"/>
              </a:solidFill>
            </a:endParaRPr>
          </a:p>
          <a:p>
            <a:pPr indent="-303213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"/>
              <a:buChar char="○"/>
            </a:pPr>
            <a:r>
              <a:rPr lang="en" sz="1175">
                <a:solidFill>
                  <a:schemeClr val="dk1"/>
                </a:solidFill>
              </a:rPr>
              <a:t>Help organize the backlog and sprint wor</a:t>
            </a:r>
            <a:r>
              <a:rPr lang="en" sz="1175">
                <a:solidFill>
                  <a:schemeClr val="dk1"/>
                </a:solidFill>
              </a:rPr>
              <a:t>k</a:t>
            </a:r>
            <a:endParaRPr sz="1175">
              <a:solidFill>
                <a:schemeClr val="dk1"/>
              </a:solidFill>
            </a:endParaRPr>
          </a:p>
          <a:p>
            <a:pPr indent="-3190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Char char="●"/>
            </a:pPr>
            <a:r>
              <a:rPr lang="en" sz="1425">
                <a:solidFill>
                  <a:schemeClr val="dk1"/>
                </a:solidFill>
              </a:rPr>
              <a:t>Sprint meetings</a:t>
            </a:r>
            <a:endParaRPr sz="1425">
              <a:solidFill>
                <a:schemeClr val="dk1"/>
              </a:solidFill>
            </a:endParaRPr>
          </a:p>
          <a:p>
            <a:pPr indent="-303213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"/>
              <a:buChar char="○"/>
            </a:pPr>
            <a:r>
              <a:rPr lang="en" sz="1175">
                <a:solidFill>
                  <a:schemeClr val="dk1"/>
                </a:solidFill>
              </a:rPr>
              <a:t>Helps the team decide what work can realistically be completed</a:t>
            </a:r>
            <a:endParaRPr sz="1175">
              <a:solidFill>
                <a:schemeClr val="dk1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6572195" y="1475375"/>
            <a:ext cx="2435100" cy="20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Frequent communication helps teams remove defects earlier and improve product quality!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descr="a cartoon sun with a smiling face and big eyes (Provided by Tenor)" id="86" name="Google Shape;86;p16"/>
          <p:cNvPicPr preferRelativeResize="0"/>
          <p:nvPr/>
        </p:nvPicPr>
        <p:blipFill rotWithShape="1">
          <a:blip r:embed="rId3">
            <a:alphaModFix/>
          </a:blip>
          <a:srcRect b="0" l="9918" r="0" t="9918"/>
          <a:stretch/>
        </p:blipFill>
        <p:spPr>
          <a:xfrm>
            <a:off x="5907011" y="3882484"/>
            <a:ext cx="1165025" cy="116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188650" y="1456725"/>
            <a:ext cx="3858900" cy="3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0734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Flexible</a:t>
            </a:r>
            <a:endParaRPr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Allows change</a:t>
            </a:r>
            <a:endParaRPr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Continuous feedback</a:t>
            </a:r>
            <a:endParaRPr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Faster response to customer needs</a:t>
            </a:r>
            <a:endParaRPr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Agile works best when requirements may change</a:t>
            </a:r>
            <a:endParaRPr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Agile needs frequent communication and collaboration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107300" y="107825"/>
            <a:ext cx="8920800" cy="830400"/>
          </a:xfrm>
          <a:prstGeom prst="rect">
            <a:avLst/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a cartoon drawing of a blue stream with a black outline (Provided by Tenor)"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49133" t="0"/>
          <a:stretch/>
        </p:blipFill>
        <p:spPr>
          <a:xfrm>
            <a:off x="7887511" y="0"/>
            <a:ext cx="1256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type="title"/>
          </p:nvPr>
        </p:nvSpPr>
        <p:spPr>
          <a:xfrm>
            <a:off x="204550" y="236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Agile vs Waterfall</a:t>
            </a:r>
            <a:endParaRPr sz="2720"/>
          </a:p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159100" y="1456625"/>
            <a:ext cx="4023900" cy="3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0734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More rigid</a:t>
            </a:r>
            <a:endParaRPr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Sequential phases</a:t>
            </a:r>
            <a:endParaRPr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Harder to change requirements</a:t>
            </a:r>
            <a:endParaRPr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Better for fixed scope projects</a:t>
            </a:r>
            <a:endParaRPr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Waterfall works best for projects with fixed requirements</a:t>
            </a:r>
            <a:endParaRPr sz="1600">
              <a:solidFill>
                <a:schemeClr val="dk1"/>
              </a:solidFill>
            </a:endParaRPr>
          </a:p>
          <a:p>
            <a:pPr indent="-30734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Waterfall can work better when deadlines, budget, and scope are already well defined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928450" y="960700"/>
            <a:ext cx="22413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Agile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5229810" y="970110"/>
            <a:ext cx="22413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Waterfall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172525" y="4028470"/>
            <a:ext cx="8855700" cy="929100"/>
          </a:xfrm>
          <a:prstGeom prst="rect">
            <a:avLst/>
          </a:prstGeom>
          <a:noFill/>
          <a:ln cap="flat" cmpd="sng" w="38100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107300" y="107825"/>
            <a:ext cx="8920800" cy="830400"/>
          </a:xfrm>
          <a:prstGeom prst="rect">
            <a:avLst/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type="title"/>
          </p:nvPr>
        </p:nvSpPr>
        <p:spPr>
          <a:xfrm>
            <a:off x="267050" y="236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Conclusion</a:t>
            </a:r>
            <a:endParaRPr sz="2720"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172525" y="1054838"/>
            <a:ext cx="8855700" cy="28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Learning about Agile Development has been enjoyable and useful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Agile supports teamwork, flexibility and communication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Scrum roles and events keep projects organized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700">
                <a:solidFill>
                  <a:schemeClr val="dk1"/>
                </a:solidFill>
              </a:rPr>
              <a:t>Agile was a better fit for SNHU Travel because it allowed for changes mid-project without having to restart altogether.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196875" y="4038520"/>
            <a:ext cx="8831100" cy="9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Agile is not just about building software faster,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it is about building the right product while adapting to change!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111600" y="98900"/>
            <a:ext cx="8920800" cy="830400"/>
          </a:xfrm>
          <a:prstGeom prst="rect">
            <a:avLst/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71350" y="22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References</a:t>
            </a:r>
            <a:endParaRPr sz="2720"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111600" y="1152475"/>
            <a:ext cx="8849100" cy="3840300"/>
          </a:xfrm>
          <a:prstGeom prst="rect">
            <a:avLst/>
          </a:prstGeom>
          <a:ln cap="flat" cmpd="sng" w="3810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3F3F3"/>
                </a:solidFill>
              </a:rPr>
              <a:t>Ambler, S. W. (n.d.). </a:t>
            </a:r>
            <a:r>
              <a:rPr i="1" lang="en" sz="1500">
                <a:solidFill>
                  <a:srgbClr val="F3F3F3"/>
                </a:solidFill>
              </a:rPr>
              <a:t>Agile requirements change management. Agile Modeling.</a:t>
            </a:r>
            <a:r>
              <a:rPr i="1" lang="en" sz="1500">
                <a:solidFill>
                  <a:srgbClr val="F3F3F3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300" u="sng">
                <a:solidFill>
                  <a:srgbClr val="D5A6BD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https://agilemodeling.com/essays/changeManagement.htm</a:t>
            </a:r>
            <a:endParaRPr sz="1300" u="sng">
              <a:solidFill>
                <a:srgbClr val="D5A6BD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3F3F3"/>
                </a:solidFill>
              </a:rPr>
              <a:t>Cobb, C. G. (2015). </a:t>
            </a:r>
            <a:r>
              <a:rPr i="1" lang="en" sz="1500">
                <a:solidFill>
                  <a:srgbClr val="F3F3F3"/>
                </a:solidFill>
              </a:rPr>
              <a:t>The project manager’s guide to mastering Agile: Principles and practices for an adaptive approach.</a:t>
            </a:r>
            <a:r>
              <a:rPr lang="en" sz="1500">
                <a:solidFill>
                  <a:srgbClr val="F3F3F3"/>
                </a:solidFill>
              </a:rPr>
              <a:t> Wiley.</a:t>
            </a:r>
            <a:endParaRPr sz="1500">
              <a:solidFill>
                <a:srgbClr val="F3F3F3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3F3F3"/>
                </a:solidFill>
              </a:rPr>
              <a:t>Ghahrai, A. (2017, January 6). </a:t>
            </a:r>
            <a:r>
              <a:rPr i="1" lang="en" sz="1500">
                <a:solidFill>
                  <a:srgbClr val="F3F3F3"/>
                </a:solidFill>
              </a:rPr>
              <a:t>Agile testing mindset and the role of the agile tester.</a:t>
            </a:r>
            <a:r>
              <a:rPr lang="en" sz="1500">
                <a:solidFill>
                  <a:srgbClr val="F3F3F3"/>
                </a:solidFill>
              </a:rPr>
              <a:t> DevQA.</a:t>
            </a:r>
            <a:r>
              <a:rPr lang="en" sz="1500">
                <a:solidFill>
                  <a:srgbClr val="F3F3F3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300" u="sng">
                <a:solidFill>
                  <a:srgbClr val="D5A6BD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https://devqa.io/agile-testing-mindset-tester-role-agile-team/</a:t>
            </a:r>
            <a:endParaRPr sz="1300" u="sng">
              <a:solidFill>
                <a:srgbClr val="D5A6BD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F3F3F3"/>
                </a:solidFill>
              </a:rPr>
              <a:t>Schwaber, K., &amp; Sutherland, J. (2020).</a:t>
            </a:r>
            <a:r>
              <a:rPr i="1" lang="en" sz="1500">
                <a:solidFill>
                  <a:srgbClr val="F3F3F3"/>
                </a:solidFill>
              </a:rPr>
              <a:t> The Scrum guide: The definitive guide to Scrum: The rules of the game. </a:t>
            </a:r>
            <a:r>
              <a:rPr lang="en" sz="1500">
                <a:solidFill>
                  <a:srgbClr val="F3F3F3"/>
                </a:solidFill>
              </a:rPr>
              <a:t>Scrum Guides.</a:t>
            </a:r>
            <a:r>
              <a:rPr lang="en" sz="1500">
                <a:solidFill>
                  <a:srgbClr val="F3F3F3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300" u="sng">
                <a:solidFill>
                  <a:srgbClr val="D5A6BD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https://scrumguides.org/docs/scrumguide/v2020/2020-Scrum-Guide-US.pdf</a:t>
            </a:r>
            <a:endParaRPr sz="1300">
              <a:solidFill>
                <a:srgbClr val="D5A6B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